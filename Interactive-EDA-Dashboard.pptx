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Roboto" panose="02000000000000000000" pitchFamily="2" charset="0"/>
      <p:regular r:id="rId13"/>
    </p:embeddedFont>
    <p:embeddedFont>
      <p:font typeface="Roboto Bold" panose="020B0604020202020204" charset="0"/>
      <p:regular r:id="rId14"/>
    </p:embeddedFont>
    <p:embeddedFont>
      <p:font typeface="Roboto Slab" pitchFamily="2" charset="0"/>
      <p:regular r:id="rId15"/>
    </p:embeddedFont>
    <p:embeddedFont>
      <p:font typeface="Roboto Slab Light" pitchFamily="2" charset="0"/>
      <p:regular r:id="rId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8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136655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1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CF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7.svg"/><Relationship Id="rId7" Type="http://schemas.openxmlformats.org/officeDocument/2006/relationships/image" Target="../media/image11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svg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E9ECF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54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1248370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Interactive EDA Dashboard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5233360" y="2122488"/>
            <a:ext cx="690644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Data Science (24AD3107) | Academic Year 2026–2027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5233360" y="2637532"/>
            <a:ext cx="6296860" cy="1693962"/>
          </a:xfrm>
          <a:prstGeom prst="roundRect">
            <a:avLst>
              <a:gd name="adj" fmla="val 1674"/>
            </a:avLst>
          </a:prstGeom>
          <a:solidFill>
            <a:srgbClr val="E9EC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5422367" y="2826544"/>
            <a:ext cx="59188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Team Members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5422367" y="3235226"/>
            <a:ext cx="591884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Y. Revanth (2420030605)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G. Rithwik (2420030415)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A. Nikitha (2420030505)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5233360" y="4520505"/>
            <a:ext cx="6296860" cy="1089124"/>
          </a:xfrm>
          <a:prstGeom prst="roundRect">
            <a:avLst>
              <a:gd name="adj" fmla="val 2603"/>
            </a:avLst>
          </a:prstGeom>
          <a:solidFill>
            <a:srgbClr val="E9EC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5422367" y="4709517"/>
            <a:ext cx="59188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Project Guide</a:t>
            </a:r>
            <a:endParaRPr lang="en-US" sz="1850" dirty="0"/>
          </a:p>
        </p:txBody>
      </p:sp>
      <p:sp>
        <p:nvSpPr>
          <p:cNvPr id="11" name="Text 8"/>
          <p:cNvSpPr/>
          <p:nvPr/>
        </p:nvSpPr>
        <p:spPr>
          <a:xfrm>
            <a:off x="5422367" y="5118199"/>
            <a:ext cx="591884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Dr. N. Sunanda</a:t>
            </a:r>
            <a:endParaRPr lang="en-US" sz="145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2FE79B7-5176-EEFE-4123-9835C6CBFD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7868" y="6350993"/>
            <a:ext cx="1524132" cy="47248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572889"/>
            <a:ext cx="3654135" cy="365422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52538" y="1914327"/>
            <a:ext cx="574561" cy="143470"/>
          </a:xfrm>
          <a:prstGeom prst="roundRect">
            <a:avLst>
              <a:gd name="adj" fmla="val 7905"/>
            </a:avLst>
          </a:prstGeom>
          <a:solidFill>
            <a:srgbClr val="D7DFF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1"/>
          <p:cNvSpPr/>
          <p:nvPr/>
        </p:nvSpPr>
        <p:spPr>
          <a:xfrm>
            <a:off x="4609191" y="1942604"/>
            <a:ext cx="1070841" cy="869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FOUNDATION</a:t>
            </a:r>
            <a:endParaRPr lang="en-US" sz="550" dirty="0"/>
          </a:p>
        </p:txBody>
      </p:sp>
      <p:sp>
        <p:nvSpPr>
          <p:cNvPr id="5" name="Text 2"/>
          <p:cNvSpPr/>
          <p:nvPr/>
        </p:nvSpPr>
        <p:spPr>
          <a:xfrm>
            <a:off x="4552538" y="2076648"/>
            <a:ext cx="698393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What is Exploratory Data Analysis?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4552538" y="2419152"/>
            <a:ext cx="6983932" cy="5030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42240" indent="-142240" algn="l">
              <a:lnSpc>
                <a:spcPct val="100000"/>
              </a:lnSpc>
              <a:buSzPct val="100000"/>
              <a:buChar char="•"/>
            </a:pPr>
            <a:r>
              <a:rPr lang="en-US" sz="7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EDA is the </a:t>
            </a:r>
            <a:r>
              <a:rPr lang="en-US" sz="70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first critical step</a:t>
            </a:r>
            <a:r>
              <a:rPr lang="en-US" sz="7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in understanding raw datasets before deeper analysis</a:t>
            </a:r>
            <a:endParaRPr lang="en-US" sz="700" dirty="0"/>
          </a:p>
          <a:p>
            <a:pPr marL="142240" indent="-142240" algn="l">
              <a:lnSpc>
                <a:spcPct val="100000"/>
              </a:lnSpc>
              <a:buSzPct val="100000"/>
              <a:buChar char="•"/>
            </a:pPr>
            <a:r>
              <a:rPr lang="en-US" sz="7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Raw datasets are often large, unstructured, and difficult to interpret directly</a:t>
            </a:r>
            <a:endParaRPr lang="en-US" sz="700" dirty="0"/>
          </a:p>
          <a:p>
            <a:pPr marL="142240" indent="-142240" algn="l">
              <a:lnSpc>
                <a:spcPct val="100000"/>
              </a:lnSpc>
              <a:buSzPct val="100000"/>
              <a:buChar char="•"/>
            </a:pPr>
            <a:r>
              <a:rPr lang="en-US" sz="7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Manual exploration requires multiple steps: inspection, cleaning, visualization, and interpretation</a:t>
            </a:r>
            <a:endParaRPr lang="en-US" sz="700" dirty="0"/>
          </a:p>
          <a:p>
            <a:pPr marL="142240" indent="-142240" algn="l">
              <a:lnSpc>
                <a:spcPct val="100000"/>
              </a:lnSpc>
              <a:buSzPct val="100000"/>
              <a:buChar char="•"/>
            </a:pPr>
            <a:r>
              <a:rPr lang="en-US" sz="7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Interactive tools streamline this process and reveal </a:t>
            </a:r>
            <a:r>
              <a:rPr lang="en-US" sz="70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hidden patterns</a:t>
            </a:r>
            <a:endParaRPr lang="en-US" sz="7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69830" y="4333280"/>
            <a:ext cx="8452035" cy="386834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341606" y="7283011"/>
            <a:ext cx="1586817" cy="305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Insights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341783" y="7283011"/>
            <a:ext cx="1586817" cy="305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Visualization</a:t>
            </a:r>
            <a:endParaRPr lang="en-US" sz="1900" dirty="0"/>
          </a:p>
        </p:txBody>
      </p:sp>
      <p:sp>
        <p:nvSpPr>
          <p:cNvPr id="10" name="Text 6"/>
          <p:cNvSpPr/>
          <p:nvPr/>
        </p:nvSpPr>
        <p:spPr>
          <a:xfrm>
            <a:off x="4352827" y="7130167"/>
            <a:ext cx="1586817" cy="6113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Data Exploration</a:t>
            </a:r>
            <a:endParaRPr lang="en-US" sz="1900" dirty="0"/>
          </a:p>
        </p:txBody>
      </p:sp>
      <p:sp>
        <p:nvSpPr>
          <p:cNvPr id="11" name="Text 7"/>
          <p:cNvSpPr/>
          <p:nvPr/>
        </p:nvSpPr>
        <p:spPr>
          <a:xfrm>
            <a:off x="2320397" y="7283011"/>
            <a:ext cx="1586817" cy="305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Raw Dataset</a:t>
            </a:r>
            <a:endParaRPr lang="en-US" sz="19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2D37CBC-5EBB-37C7-6CA3-28A12B2BFDF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60053" y="6383565"/>
            <a:ext cx="1524132" cy="47248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E9ECF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54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597495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Problem Statement &amp; Objectives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5233360" y="2251273"/>
            <a:ext cx="2917851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Challenges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5233360" y="2735560"/>
            <a:ext cx="2917851" cy="34587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Raw datasets are difficult to understand; manual analysis is </a:t>
            </a:r>
            <a:r>
              <a:rPr lang="en-US" sz="145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time-consuming and error-prone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Identifying missing values, duplicates, and inconsistencies requires significant effort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Creating visualizations manually requires </a:t>
            </a:r>
            <a:r>
              <a:rPr lang="en-US" sz="145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coding expertise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8618719" y="2251273"/>
            <a:ext cx="2917851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Our Goals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8618719" y="2735560"/>
            <a:ext cx="2917851" cy="25515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Simplify EDA and make it </a:t>
            </a:r>
            <a:r>
              <a:rPr lang="en-US" sz="145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accessible to all skill levels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Automatically detect data-quality issues and generate visualizations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Enable interactive exploration and pattern discovery in </a:t>
            </a:r>
            <a:r>
              <a:rPr lang="en-US" sz="145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one unified platform</a:t>
            </a:r>
            <a:endParaRPr lang="en-US" sz="145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BA568D6-BDCE-5B34-83E7-D2BC72D79B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7868" y="6341224"/>
            <a:ext cx="1524132" cy="47248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641747"/>
            <a:ext cx="1271456" cy="287139"/>
          </a:xfrm>
          <a:prstGeom prst="roundRect">
            <a:avLst>
              <a:gd name="adj" fmla="val 7899"/>
            </a:avLst>
          </a:prstGeom>
          <a:noFill/>
          <a:ln w="6350">
            <a:solidFill>
              <a:srgbClr val="3257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74879" y="698401"/>
            <a:ext cx="1654233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3257B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OUR SOLUTION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1004491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Proposed Solution</a:t>
            </a:r>
            <a:endParaRPr lang="en-US" sz="3700" dirty="0"/>
          </a:p>
        </p:txBody>
      </p:sp>
      <p:sp>
        <p:nvSpPr>
          <p:cNvPr id="5" name="Text 3"/>
          <p:cNvSpPr/>
          <p:nvPr/>
        </p:nvSpPr>
        <p:spPr>
          <a:xfrm>
            <a:off x="661475" y="1878608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unified, user-friendly platform automating the entire exploratory data analysis workflow:</a:t>
            </a:r>
            <a:endParaRPr lang="en-US" sz="14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393652"/>
            <a:ext cx="472468" cy="472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61475" y="3102372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Dataset Upload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661475" y="3511054"/>
            <a:ext cx="346542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Simple file upload interface for instant onboarding</a:t>
            </a:r>
            <a:endParaRPr lang="en-US" sz="14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63135" y="2393652"/>
            <a:ext cx="472468" cy="4724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363135" y="3102372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Auto Preprocessing</a:t>
            </a:r>
            <a:endParaRPr lang="en-US" sz="1850" dirty="0"/>
          </a:p>
        </p:txBody>
      </p:sp>
      <p:sp>
        <p:nvSpPr>
          <p:cNvPr id="11" name="Text 7"/>
          <p:cNvSpPr/>
          <p:nvPr/>
        </p:nvSpPr>
        <p:spPr>
          <a:xfrm>
            <a:off x="4363135" y="3511054"/>
            <a:ext cx="346542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Data inspection and quality checks, automatically</a:t>
            </a:r>
            <a:endParaRPr lang="en-US" sz="14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64794" y="2393652"/>
            <a:ext cx="472468" cy="47248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064794" y="3102372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Statistical Summary</a:t>
            </a:r>
            <a:endParaRPr lang="en-US" sz="1850" dirty="0"/>
          </a:p>
        </p:txBody>
      </p:sp>
      <p:sp>
        <p:nvSpPr>
          <p:cNvPr id="14" name="Text 9"/>
          <p:cNvSpPr/>
          <p:nvPr/>
        </p:nvSpPr>
        <p:spPr>
          <a:xfrm>
            <a:off x="8064794" y="3511054"/>
            <a:ext cx="346542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Descriptive statistics and data profiling at a glance</a:t>
            </a:r>
            <a:endParaRPr lang="en-US" sz="145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4493915"/>
            <a:ext cx="472468" cy="47248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61475" y="5202634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Interactive Visualizations</a:t>
            </a:r>
            <a:endParaRPr lang="en-US" sz="1850" dirty="0"/>
          </a:p>
        </p:txBody>
      </p:sp>
      <p:sp>
        <p:nvSpPr>
          <p:cNvPr id="17" name="Text 11"/>
          <p:cNvSpPr/>
          <p:nvPr/>
        </p:nvSpPr>
        <p:spPr>
          <a:xfrm>
            <a:off x="661475" y="5611316"/>
            <a:ext cx="346542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Multiple chart types generated automatically</a:t>
            </a:r>
            <a:endParaRPr lang="en-US" sz="1450" dirty="0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363135" y="4493915"/>
            <a:ext cx="472468" cy="47248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4363135" y="5202634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Insight Generation</a:t>
            </a:r>
            <a:endParaRPr lang="en-US" sz="1850" dirty="0"/>
          </a:p>
        </p:txBody>
      </p:sp>
      <p:sp>
        <p:nvSpPr>
          <p:cNvPr id="20" name="Text 13"/>
          <p:cNvSpPr/>
          <p:nvPr/>
        </p:nvSpPr>
        <p:spPr>
          <a:xfrm>
            <a:off x="4363135" y="5611316"/>
            <a:ext cx="346542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Patterns, relationships, and anomalies identified instantly</a:t>
            </a:r>
            <a:endParaRPr lang="en-US" sz="145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FBA1F736-3EB5-1CF7-177F-A596B084535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615673" y="6393334"/>
            <a:ext cx="1524132" cy="47248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88764"/>
            <a:ext cx="911004" cy="197346"/>
          </a:xfrm>
          <a:prstGeom prst="roundRect">
            <a:avLst>
              <a:gd name="adj" fmla="val 7902"/>
            </a:avLst>
          </a:prstGeom>
          <a:solidFill>
            <a:srgbClr val="D7DFF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39360" y="627658"/>
            <a:ext cx="1364819" cy="1195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METHODOLOGY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61475" y="821829"/>
            <a:ext cx="10868745" cy="4060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System Workflow &amp; Methodology</a:t>
            </a:r>
            <a:endParaRPr lang="en-US" sz="25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862163"/>
            <a:ext cx="6953771" cy="19064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99728" y="3551175"/>
            <a:ext cx="1050817" cy="376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Upload &amp; Parse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1499728" y="3981004"/>
            <a:ext cx="1050817" cy="3810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88000"/>
              </a:lnSpc>
              <a:buNone/>
            </a:pPr>
            <a:r>
              <a:rPr lang="en-US" sz="9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CSV/Excel upload and dataset reading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2917961" y="3335739"/>
            <a:ext cx="1050817" cy="376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Inspect &amp; Clean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2917961" y="3765567"/>
            <a:ext cx="1050817" cy="3810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88000"/>
              </a:lnSpc>
              <a:buNone/>
            </a:pPr>
            <a:r>
              <a:rPr lang="en-US" sz="9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Check structure, missing values, duplicates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4362952" y="3551175"/>
            <a:ext cx="1050817" cy="376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Summarize &amp; Visualize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4362952" y="3981004"/>
            <a:ext cx="1050817" cy="3810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88000"/>
              </a:lnSpc>
              <a:buNone/>
            </a:pPr>
            <a:r>
              <a:rPr lang="en-US" sz="9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Statistical summary, charts, heatmaps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5794563" y="3462743"/>
            <a:ext cx="1050817" cy="376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Analyze &amp; Discover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5794563" y="3892572"/>
            <a:ext cx="1050817" cy="2540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88000"/>
              </a:lnSpc>
              <a:buNone/>
            </a:pPr>
            <a:r>
              <a:rPr lang="en-US" sz="9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Find correlations, outliers, patterns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7938492" y="1462286"/>
            <a:ext cx="259847" cy="1624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15213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01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7938492" y="1663998"/>
            <a:ext cx="3598078" cy="19050"/>
          </a:xfrm>
          <a:prstGeom prst="rect">
            <a:avLst/>
          </a:prstGeom>
          <a:solidFill>
            <a:srgbClr val="476FD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7938492" y="1766987"/>
            <a:ext cx="3598078" cy="203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Upload Dataset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7938492" y="2059285"/>
            <a:ext cx="3598078" cy="175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CSV, Excel, or similar format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7938492" y="2421434"/>
            <a:ext cx="259847" cy="1624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15213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02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7938492" y="2610148"/>
            <a:ext cx="3598078" cy="19050"/>
          </a:xfrm>
          <a:prstGeom prst="rect">
            <a:avLst/>
          </a:prstGeom>
          <a:solidFill>
            <a:srgbClr val="476FD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7"/>
          <p:cNvSpPr/>
          <p:nvPr/>
        </p:nvSpPr>
        <p:spPr>
          <a:xfrm>
            <a:off x="7938492" y="2726134"/>
            <a:ext cx="3598078" cy="203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Inspect Structure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7938492" y="3018433"/>
            <a:ext cx="3598078" cy="175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Rows, columns, and data types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7938492" y="3380581"/>
            <a:ext cx="259847" cy="1624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15213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03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7938492" y="3556397"/>
            <a:ext cx="3598078" cy="19050"/>
          </a:xfrm>
          <a:prstGeom prst="rect">
            <a:avLst/>
          </a:prstGeom>
          <a:solidFill>
            <a:srgbClr val="476FD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1"/>
          <p:cNvSpPr/>
          <p:nvPr/>
        </p:nvSpPr>
        <p:spPr>
          <a:xfrm>
            <a:off x="7938492" y="3685282"/>
            <a:ext cx="3598078" cy="203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Check Data Quality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7938492" y="3977580"/>
            <a:ext cx="3598078" cy="175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Missing values, duplicates, inconsistencies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7938492" y="4339729"/>
            <a:ext cx="259847" cy="1624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15213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04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7938492" y="4502547"/>
            <a:ext cx="3598078" cy="19050"/>
          </a:xfrm>
          <a:prstGeom prst="rect">
            <a:avLst/>
          </a:prstGeom>
          <a:solidFill>
            <a:srgbClr val="476FD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5"/>
          <p:cNvSpPr/>
          <p:nvPr/>
        </p:nvSpPr>
        <p:spPr>
          <a:xfrm>
            <a:off x="7938492" y="4644430"/>
            <a:ext cx="3598078" cy="203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Statistical Summary</a:t>
            </a:r>
            <a:endParaRPr lang="en-US" sz="1250" dirty="0"/>
          </a:p>
        </p:txBody>
      </p:sp>
      <p:sp>
        <p:nvSpPr>
          <p:cNvPr id="29" name="Text 26"/>
          <p:cNvSpPr/>
          <p:nvPr/>
        </p:nvSpPr>
        <p:spPr>
          <a:xfrm>
            <a:off x="7938492" y="4936728"/>
            <a:ext cx="3598078" cy="175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Mean, median, std dev, quartiles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7938492" y="5298877"/>
            <a:ext cx="259847" cy="1624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15213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05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7938492" y="5448796"/>
            <a:ext cx="3598078" cy="19050"/>
          </a:xfrm>
          <a:prstGeom prst="rect">
            <a:avLst/>
          </a:prstGeom>
          <a:solidFill>
            <a:srgbClr val="476FD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29"/>
          <p:cNvSpPr/>
          <p:nvPr/>
        </p:nvSpPr>
        <p:spPr>
          <a:xfrm>
            <a:off x="7938492" y="5603577"/>
            <a:ext cx="3598078" cy="203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Visualize &amp; Analyze</a:t>
            </a:r>
            <a:endParaRPr lang="en-US" sz="1250" dirty="0"/>
          </a:p>
        </p:txBody>
      </p:sp>
      <p:sp>
        <p:nvSpPr>
          <p:cNvPr id="33" name="Text 30"/>
          <p:cNvSpPr/>
          <p:nvPr/>
        </p:nvSpPr>
        <p:spPr>
          <a:xfrm>
            <a:off x="7938492" y="5895876"/>
            <a:ext cx="3598078" cy="175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Charts, correlations, outlier detection</a:t>
            </a:r>
            <a:endParaRPr lang="en-US" sz="1000" dirty="0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50DDA97C-42D3-E11E-5CDE-D8B05ECAFB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01503" y="6326728"/>
            <a:ext cx="1524132" cy="47248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2001341"/>
            <a:ext cx="942158" cy="287139"/>
          </a:xfrm>
          <a:prstGeom prst="roundRect">
            <a:avLst>
              <a:gd name="adj" fmla="val 7899"/>
            </a:avLst>
          </a:prstGeom>
          <a:solidFill>
            <a:srgbClr val="D7DFF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74879" y="2057995"/>
            <a:ext cx="1324934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FEATURES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2364085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Key Features &amp; Visualizations</a:t>
            </a:r>
            <a:endParaRPr lang="en-US" sz="37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3238202"/>
            <a:ext cx="762378" cy="76239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60087" y="3238202"/>
            <a:ext cx="2466814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Bar Chart &amp; Histogram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1660087" y="3942159"/>
            <a:ext cx="246681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Compare categorical values and visualize </a:t>
            </a:r>
            <a:r>
              <a:rPr lang="en-US" sz="145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distribution of numerical data</a:t>
            </a: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with clarity</a:t>
            </a:r>
            <a:endParaRPr lang="en-US" sz="14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3135" y="3238202"/>
            <a:ext cx="762378" cy="76239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361746" y="3238202"/>
            <a:ext cx="246681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Box Plot &amp; Scatter Plot</a:t>
            </a:r>
            <a:endParaRPr lang="en-US" sz="1850" dirty="0"/>
          </a:p>
        </p:txBody>
      </p:sp>
      <p:sp>
        <p:nvSpPr>
          <p:cNvPr id="10" name="Text 6"/>
          <p:cNvSpPr/>
          <p:nvPr/>
        </p:nvSpPr>
        <p:spPr>
          <a:xfrm>
            <a:off x="5361746" y="3646884"/>
            <a:ext cx="2466814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Identify outliers</a:t>
            </a: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and reveal relationships between variables through interactive plots</a:t>
            </a:r>
            <a:endParaRPr lang="en-US" sz="14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4794" y="3238202"/>
            <a:ext cx="762378" cy="762397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063406" y="3238202"/>
            <a:ext cx="246681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Correlation Heatmap</a:t>
            </a:r>
            <a:endParaRPr lang="en-US" sz="1850" dirty="0"/>
          </a:p>
        </p:txBody>
      </p:sp>
      <p:sp>
        <p:nvSpPr>
          <p:cNvPr id="13" name="Text 8"/>
          <p:cNvSpPr/>
          <p:nvPr/>
        </p:nvSpPr>
        <p:spPr>
          <a:xfrm>
            <a:off x="9063406" y="3646884"/>
            <a:ext cx="2466814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Visualize </a:t>
            </a:r>
            <a:r>
              <a:rPr lang="en-US" sz="145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feature dependencies</a:t>
            </a: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across all variables in a single, comprehensive view</a:t>
            </a:r>
            <a:endParaRPr lang="en-US" sz="145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5AA0CA5-1E3B-B473-DA8B-B52617FB09F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01503" y="6311098"/>
            <a:ext cx="1524132" cy="47248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66936"/>
            <a:ext cx="1291201" cy="246856"/>
          </a:xfrm>
          <a:prstGeom prst="roundRect">
            <a:avLst>
              <a:gd name="adj" fmla="val 7896"/>
            </a:avLst>
          </a:prstGeom>
          <a:noFill/>
          <a:ln w="6350">
            <a:solidFill>
              <a:srgbClr val="3257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58905" y="615652"/>
            <a:ext cx="1705925" cy="1494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dirty="0">
                <a:solidFill>
                  <a:srgbClr val="3257B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IMPLEMENTATION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61475" y="869553"/>
            <a:ext cx="10868745" cy="507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Dashboard UI Design &amp; Technology Stack</a:t>
            </a:r>
            <a:endParaRPr lang="en-US" sz="3150" dirty="0"/>
          </a:p>
        </p:txBody>
      </p:sp>
      <p:sp>
        <p:nvSpPr>
          <p:cNvPr id="5" name="Text 3"/>
          <p:cNvSpPr/>
          <p:nvPr/>
        </p:nvSpPr>
        <p:spPr>
          <a:xfrm>
            <a:off x="661475" y="1726009"/>
            <a:ext cx="5236238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Dashboard Layout</a:t>
            </a:r>
            <a:endParaRPr lang="en-US" sz="15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136775"/>
            <a:ext cx="2548370" cy="123944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9140" y="2318246"/>
            <a:ext cx="2109239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Top Panel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919140" y="2711549"/>
            <a:ext cx="2109239" cy="483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Upload interface and file information</a:t>
            </a:r>
            <a:endParaRPr lang="en-US" sz="12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49343" y="2136775"/>
            <a:ext cx="2548370" cy="123944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607007" y="2318246"/>
            <a:ext cx="2109239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Left Sidebar</a:t>
            </a:r>
            <a:endParaRPr lang="en-US" sz="1550" dirty="0"/>
          </a:p>
        </p:txBody>
      </p:sp>
      <p:sp>
        <p:nvSpPr>
          <p:cNvPr id="11" name="Text 7"/>
          <p:cNvSpPr/>
          <p:nvPr/>
        </p:nvSpPr>
        <p:spPr>
          <a:xfrm>
            <a:off x="3607007" y="2711549"/>
            <a:ext cx="2109239" cy="483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Navigation controls and filters</a:t>
            </a:r>
            <a:endParaRPr lang="en-US" sz="12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3515717"/>
            <a:ext cx="2548370" cy="1239441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19140" y="3697188"/>
            <a:ext cx="2109239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Main Area</a:t>
            </a:r>
            <a:endParaRPr lang="en-US" sz="1550" dirty="0"/>
          </a:p>
        </p:txBody>
      </p:sp>
      <p:sp>
        <p:nvSpPr>
          <p:cNvPr id="14" name="Text 9"/>
          <p:cNvSpPr/>
          <p:nvPr/>
        </p:nvSpPr>
        <p:spPr>
          <a:xfrm>
            <a:off x="919140" y="4090491"/>
            <a:ext cx="2109239" cy="483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Data preview and interactive visualizations</a:t>
            </a:r>
            <a:endParaRPr lang="en-US" sz="125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49343" y="3515717"/>
            <a:ext cx="2548370" cy="1239441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3607007" y="3697188"/>
            <a:ext cx="2109239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Right Panel</a:t>
            </a:r>
            <a:endParaRPr lang="en-US" sz="1550" dirty="0"/>
          </a:p>
        </p:txBody>
      </p:sp>
      <p:sp>
        <p:nvSpPr>
          <p:cNvPr id="17" name="Text 11"/>
          <p:cNvSpPr/>
          <p:nvPr/>
        </p:nvSpPr>
        <p:spPr>
          <a:xfrm>
            <a:off x="3607007" y="4090491"/>
            <a:ext cx="2109239" cy="483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Statistics summary and correlation heatmap</a:t>
            </a:r>
            <a:endParaRPr lang="en-US" sz="1250" dirty="0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4894659"/>
            <a:ext cx="2548370" cy="1239441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919140" y="5076130"/>
            <a:ext cx="2109239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Bottom Section</a:t>
            </a:r>
            <a:endParaRPr lang="en-US" sz="1550" dirty="0"/>
          </a:p>
        </p:txBody>
      </p:sp>
      <p:sp>
        <p:nvSpPr>
          <p:cNvPr id="20" name="Text 13"/>
          <p:cNvSpPr/>
          <p:nvPr/>
        </p:nvSpPr>
        <p:spPr>
          <a:xfrm>
            <a:off x="919140" y="5469434"/>
            <a:ext cx="2109239" cy="483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Auto-generated insights and findings</a:t>
            </a:r>
            <a:endParaRPr lang="en-US" sz="1250" dirty="0"/>
          </a:p>
        </p:txBody>
      </p:sp>
      <p:sp>
        <p:nvSpPr>
          <p:cNvPr id="21" name="Text 14"/>
          <p:cNvSpPr/>
          <p:nvPr/>
        </p:nvSpPr>
        <p:spPr>
          <a:xfrm>
            <a:off x="6300332" y="1726009"/>
            <a:ext cx="5236238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Technology Stack</a:t>
            </a:r>
            <a:endParaRPr lang="en-US" sz="1550" dirty="0"/>
          </a:p>
        </p:txBody>
      </p:sp>
      <p:sp>
        <p:nvSpPr>
          <p:cNvPr id="22" name="Shape 15"/>
          <p:cNvSpPr/>
          <p:nvPr/>
        </p:nvSpPr>
        <p:spPr>
          <a:xfrm>
            <a:off x="6300332" y="2136775"/>
            <a:ext cx="2548370" cy="1201341"/>
          </a:xfrm>
          <a:prstGeom prst="roundRect">
            <a:avLst>
              <a:gd name="adj" fmla="val 2028"/>
            </a:avLst>
          </a:prstGeom>
          <a:solidFill>
            <a:srgbClr val="E9EC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16"/>
          <p:cNvSpPr/>
          <p:nvPr/>
        </p:nvSpPr>
        <p:spPr>
          <a:xfrm>
            <a:off x="6462749" y="2299196"/>
            <a:ext cx="2223536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Python</a:t>
            </a:r>
            <a:endParaRPr lang="en-US" sz="1550" dirty="0"/>
          </a:p>
        </p:txBody>
      </p:sp>
      <p:sp>
        <p:nvSpPr>
          <p:cNvPr id="24" name="Text 17"/>
          <p:cNvSpPr/>
          <p:nvPr/>
        </p:nvSpPr>
        <p:spPr>
          <a:xfrm>
            <a:off x="6462749" y="2692499"/>
            <a:ext cx="2223536" cy="241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Core programming language</a:t>
            </a:r>
            <a:endParaRPr lang="en-US" sz="1250" dirty="0"/>
          </a:p>
        </p:txBody>
      </p:sp>
      <p:sp>
        <p:nvSpPr>
          <p:cNvPr id="25" name="Shape 18"/>
          <p:cNvSpPr/>
          <p:nvPr/>
        </p:nvSpPr>
        <p:spPr>
          <a:xfrm>
            <a:off x="8988200" y="2136775"/>
            <a:ext cx="2548370" cy="1201341"/>
          </a:xfrm>
          <a:prstGeom prst="roundRect">
            <a:avLst>
              <a:gd name="adj" fmla="val 2028"/>
            </a:avLst>
          </a:prstGeom>
          <a:solidFill>
            <a:srgbClr val="E9EC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19"/>
          <p:cNvSpPr/>
          <p:nvPr/>
        </p:nvSpPr>
        <p:spPr>
          <a:xfrm>
            <a:off x="9150617" y="2299196"/>
            <a:ext cx="2223536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Pandas &amp; NumPy</a:t>
            </a:r>
            <a:endParaRPr lang="en-US" sz="1550" dirty="0"/>
          </a:p>
        </p:txBody>
      </p:sp>
      <p:sp>
        <p:nvSpPr>
          <p:cNvPr id="27" name="Text 20"/>
          <p:cNvSpPr/>
          <p:nvPr/>
        </p:nvSpPr>
        <p:spPr>
          <a:xfrm>
            <a:off x="9150617" y="2692499"/>
            <a:ext cx="2223536" cy="483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Data manipulation and numerical operations</a:t>
            </a:r>
            <a:endParaRPr lang="en-US" sz="1250" dirty="0"/>
          </a:p>
        </p:txBody>
      </p:sp>
      <p:sp>
        <p:nvSpPr>
          <p:cNvPr id="28" name="Shape 21"/>
          <p:cNvSpPr/>
          <p:nvPr/>
        </p:nvSpPr>
        <p:spPr>
          <a:xfrm>
            <a:off x="6300332" y="3477617"/>
            <a:ext cx="2548370" cy="1201341"/>
          </a:xfrm>
          <a:prstGeom prst="roundRect">
            <a:avLst>
              <a:gd name="adj" fmla="val 2028"/>
            </a:avLst>
          </a:prstGeom>
          <a:solidFill>
            <a:srgbClr val="E9EC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2"/>
          <p:cNvSpPr/>
          <p:nvPr/>
        </p:nvSpPr>
        <p:spPr>
          <a:xfrm>
            <a:off x="6462749" y="3640038"/>
            <a:ext cx="2223536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Matplotlib &amp; Seaborn</a:t>
            </a:r>
            <a:endParaRPr lang="en-US" sz="1550" dirty="0"/>
          </a:p>
        </p:txBody>
      </p:sp>
      <p:sp>
        <p:nvSpPr>
          <p:cNvPr id="30" name="Text 23"/>
          <p:cNvSpPr/>
          <p:nvPr/>
        </p:nvSpPr>
        <p:spPr>
          <a:xfrm>
            <a:off x="6462749" y="4033341"/>
            <a:ext cx="2223536" cy="241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Statistical visualization</a:t>
            </a:r>
            <a:endParaRPr lang="en-US" sz="1250" dirty="0"/>
          </a:p>
        </p:txBody>
      </p:sp>
      <p:sp>
        <p:nvSpPr>
          <p:cNvPr id="31" name="Shape 24"/>
          <p:cNvSpPr/>
          <p:nvPr/>
        </p:nvSpPr>
        <p:spPr>
          <a:xfrm>
            <a:off x="8988200" y="3477617"/>
            <a:ext cx="2548370" cy="1201341"/>
          </a:xfrm>
          <a:prstGeom prst="roundRect">
            <a:avLst>
              <a:gd name="adj" fmla="val 2028"/>
            </a:avLst>
          </a:prstGeom>
          <a:solidFill>
            <a:srgbClr val="E9EC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25"/>
          <p:cNvSpPr/>
          <p:nvPr/>
        </p:nvSpPr>
        <p:spPr>
          <a:xfrm>
            <a:off x="9150617" y="3640038"/>
            <a:ext cx="2223536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Streamlit</a:t>
            </a:r>
            <a:endParaRPr lang="en-US" sz="1550" dirty="0"/>
          </a:p>
        </p:txBody>
      </p:sp>
      <p:sp>
        <p:nvSpPr>
          <p:cNvPr id="33" name="Text 26"/>
          <p:cNvSpPr/>
          <p:nvPr/>
        </p:nvSpPr>
        <p:spPr>
          <a:xfrm>
            <a:off x="9150617" y="4033341"/>
            <a:ext cx="2223536" cy="483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Interactive web-based dashboard interface</a:t>
            </a:r>
            <a:endParaRPr lang="en-US" sz="1250" dirty="0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3E3B3994-B65C-3CA7-EEC5-EB64B552F6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12087" y="6375750"/>
            <a:ext cx="1524132" cy="47248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E9ECF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54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1162248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Benefits &amp; Expected Results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5233360" y="2225377"/>
            <a:ext cx="2917851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Key Benefits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5233360" y="2709664"/>
            <a:ext cx="2917851" cy="29200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Reduces </a:t>
            </a:r>
            <a:r>
              <a:rPr lang="en-US" sz="145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hours of manual analysis to minutes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Enables non-technical users to perform professional-grade EDA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Automatically identifies data-quality issues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Reveals </a:t>
            </a:r>
            <a:r>
              <a:rPr lang="en-US" sz="145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hidden patterns and relationships</a:t>
            </a: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effortlessly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8618719" y="2225377"/>
            <a:ext cx="2917851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Expected Insights Delivered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8618719" y="3012754"/>
            <a:ext cx="2917851" cy="2617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Dataset structure understanding and profiling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Missing value and duplicate identification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Distribution visualization and outlier detection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Correlation discovery and </a:t>
            </a:r>
            <a:r>
              <a:rPr lang="en-US" sz="145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actionable pattern recognition</a:t>
            </a:r>
            <a:endParaRPr lang="en-US" sz="145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743B2B5-9F0F-0B47-A3DE-DC49D8DFAA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7868" y="6350993"/>
            <a:ext cx="1524132" cy="47248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1328043"/>
            <a:ext cx="1385456" cy="287139"/>
          </a:xfrm>
          <a:prstGeom prst="roundRect">
            <a:avLst>
              <a:gd name="adj" fmla="val 7899"/>
            </a:avLst>
          </a:prstGeom>
          <a:noFill/>
          <a:ln w="6350">
            <a:solidFill>
              <a:srgbClr val="3257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74879" y="1384697"/>
            <a:ext cx="1768232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3257B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LOOKING AHEAD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1690787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Future Scope &amp; Enhancements</a:t>
            </a:r>
            <a:endParaRPr lang="en-US" sz="37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564904"/>
            <a:ext cx="3622882" cy="75604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0482" y="3509963"/>
            <a:ext cx="324486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Expanded Data Sources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850482" y="3918645"/>
            <a:ext cx="3244868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JSON, SQL databases, and live API integration</a:t>
            </a:r>
            <a:endParaRPr lang="en-US" sz="14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4357" y="2564904"/>
            <a:ext cx="3622882" cy="75604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473364" y="3509963"/>
            <a:ext cx="324486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ML-Assisted Analysis</a:t>
            </a:r>
            <a:endParaRPr lang="en-US" sz="1850" dirty="0"/>
          </a:p>
        </p:txBody>
      </p:sp>
      <p:sp>
        <p:nvSpPr>
          <p:cNvPr id="10" name="Text 6"/>
          <p:cNvSpPr/>
          <p:nvPr/>
        </p:nvSpPr>
        <p:spPr>
          <a:xfrm>
            <a:off x="4473364" y="3918645"/>
            <a:ext cx="3244868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Automated anomaly detection, clustering, and hypothesis testing</a:t>
            </a:r>
            <a:endParaRPr lang="en-US" sz="14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07239" y="2564904"/>
            <a:ext cx="3622882" cy="756047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096246" y="3509963"/>
            <a:ext cx="324486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Export &amp; Reporting</a:t>
            </a:r>
            <a:endParaRPr lang="en-US" sz="1850" dirty="0"/>
          </a:p>
        </p:txBody>
      </p:sp>
      <p:sp>
        <p:nvSpPr>
          <p:cNvPr id="13" name="Text 8"/>
          <p:cNvSpPr/>
          <p:nvPr/>
        </p:nvSpPr>
        <p:spPr>
          <a:xfrm>
            <a:off x="8096246" y="3918645"/>
            <a:ext cx="3244868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Exportable PDF, PNG, HTML reports and real-time data streaming</a:t>
            </a:r>
            <a:endParaRPr lang="en-US" sz="1450" dirty="0"/>
          </a:p>
        </p:txBody>
      </p:sp>
      <p:sp>
        <p:nvSpPr>
          <p:cNvPr id="14" name="Text 9"/>
          <p:cNvSpPr/>
          <p:nvPr/>
        </p:nvSpPr>
        <p:spPr>
          <a:xfrm>
            <a:off x="661475" y="4925120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Advanced filtering, interactive drill-down, and automated insight generation are also planned to further elevate the platform's analytical depth.</a:t>
            </a:r>
            <a:endParaRPr lang="en-US" sz="145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8CBEFBBD-104B-0E81-F444-968F4FDF115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67868" y="6385519"/>
            <a:ext cx="1524132" cy="47248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E9ECF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4263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657622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Conclusion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944936" y="1744365"/>
            <a:ext cx="6013399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Interactive EDA Dashboard transforms exploratory data analysis from a </a:t>
            </a:r>
            <a:r>
              <a:rPr lang="en-US" sz="145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time-consuming, manual process</a:t>
            </a: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into an efficient, intuitive, and accessible workflow.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661475" y="1531739"/>
            <a:ext cx="25399" cy="1332508"/>
          </a:xfrm>
          <a:prstGeom prst="roundRect">
            <a:avLst>
              <a:gd name="adj" fmla="val 50001"/>
            </a:avLst>
          </a:prstGeom>
          <a:solidFill>
            <a:srgbClr val="3257B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661475" y="3076873"/>
            <a:ext cx="6296860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By automating data inspection, quality checks, and visualization generation, it empowers users to uncover patterns, identify data-quality issues, and extract meaningful insights — all within a </a:t>
            </a:r>
            <a:r>
              <a:rPr lang="en-US" sz="145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single, unified platform</a:t>
            </a: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661475" y="4570016"/>
            <a:ext cx="6296860" cy="16303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51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Thank You </a:t>
            </a:r>
          </a:p>
          <a:p>
            <a:pPr marL="0" indent="0" algn="ctr">
              <a:lnSpc>
                <a:spcPct val="104000"/>
              </a:lnSpc>
              <a:buNone/>
            </a:pPr>
            <a:endParaRPr lang="en-US" sz="5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627</Words>
  <Application>Microsoft Office PowerPoint</Application>
  <PresentationFormat>Widescreen</PresentationFormat>
  <Paragraphs>129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Roboto Slab</vt:lpstr>
      <vt:lpstr>Roboto Bold</vt:lpstr>
      <vt:lpstr>Roboto Slab Light</vt:lpstr>
      <vt:lpstr>Roboto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Rithwik sai</cp:lastModifiedBy>
  <cp:revision>3</cp:revision>
  <dcterms:created xsi:type="dcterms:W3CDTF">2026-09-12T06:49:06Z</dcterms:created>
  <dcterms:modified xsi:type="dcterms:W3CDTF">2026-09-12T07:07:29Z</dcterms:modified>
</cp:coreProperties>
</file>